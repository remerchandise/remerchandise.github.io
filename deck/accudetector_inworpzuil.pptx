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51560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Accudetectie bij de inworpzuil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D8DEE0"/>
                </a:solidFill>
                <a:latin typeface="Calibri"/>
              </a:rPr>
              <a:t>Productontwerp, tests en advies over een abonnement voor gemeenten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AEB6BA"/>
                </a:solidFill>
                <a:latin typeface="Calibri"/>
              </a:rPr>
              <a:t>Oktober 2026  ·  Multi-agent ontwerpteam: 8 specialisten + orchestrator  ·  4 sparringrondes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75688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4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Inductie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856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4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Röntgen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4024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4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Thermisch/gas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4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4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4A5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0696" y="493776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Red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AEB6BA"/>
                </a:solidFill>
                <a:latin typeface="Calibri"/>
              </a:rPr>
              <a:t>Prijspeil EUR 2026 excl. btw · energie in Wh · bandbreedtes laag / basis / hoog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Advies: start geen abonnement op een accudetector in de zuil; investeer in de wagen en in preventie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debate/R4_scorekaart.md, R4_redteam.md; experiments/r3_classificatie, r3_business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F646A"/>
                </a:solidFill>
                <a:latin typeface="Calibri"/>
              </a:rPr>
              <a:t>AANBEVOLEN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3317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7A6D"/>
                </a:solidFill>
                <a:latin typeface="Cambria"/>
              </a:rPr>
              <a:t>Geen zuildetector als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33172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Conditioneel: thermische camera boven de laadbak (inzamelaar) en accu-brievenbus aan de zuil (betaald door de producentenorganisatie)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5087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645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F646A"/>
                </a:solidFill>
                <a:latin typeface="Calibri"/>
              </a:rPr>
              <a:t>DETECTIE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965960"/>
            <a:ext cx="23317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D9481C"/>
                </a:solidFill>
                <a:latin typeface="Cambria"/>
              </a:rPr>
              <a:t>Inductie ziet staal, geen lithium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971800"/>
            <a:ext cx="233172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Strandmetaaldetector: PPV 5 %. Röntgen ziet cellen (PPV 28 %), maar kost EUR 90 per maand per zuil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087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645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F646A"/>
                </a:solidFill>
                <a:latin typeface="Calibri"/>
              </a:rPr>
              <a:t>DREMPEL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965960"/>
            <a:ext cx="23317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2328"/>
                </a:solidFill>
                <a:latin typeface="Cambria"/>
              </a:rPr>
              <a:t>Pakket ≥ 20 Wh-eq als rangorde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971800"/>
            <a:ext cx="233172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95 % van de ledigingen bevat al lithium. Werkbaar is ≤ 20 meldingen per 1.000 ledigingen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508760"/>
            <a:ext cx="2651760" cy="28346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6459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5F646A"/>
                </a:solidFill>
                <a:latin typeface="Calibri"/>
              </a:rPr>
              <a:t>PRIJS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965960"/>
            <a:ext cx="233172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D9481C"/>
                </a:solidFill>
                <a:latin typeface="Cambria"/>
              </a:rPr>
              <a:t>EUR 5,7–18,6 per container/mnd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2971800"/>
            <a:ext cx="233172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Zuilabonnement bij 10.000 containers, tegenover EUR 0,08–0,31 vermeden schade per maand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10698480" cy="12801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MVP binnen 3–6 maanden: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één meet-zuil (PI-lussen + IR/CO onder het deksel) als go/no-go, EUR 37k / 62k / 102k. </a:t>
            </a:r>
            <a:r>
              <a:rPr sz="1600" b="0" i="0">
                <a:solidFill>
                  <a:srgbClr val="D8DEE0"/>
                </a:solidFill>
                <a:latin typeface="Calibri"/>
              </a:rPr>
              <a:t>Go alleen bij AUC ≥ 0,85 en PPV ≥ 30 % in een echte RVS-trommel; de modellen verwachten AUC 0,56–0,6.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Accubranden zijn reëel en nemen toe, maar ontstaan vooral bij het persen in de wagen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NOS/NVRD 2023; Vereniging Afvalbedrijven; TK 2026D41104; Stichting OPEN 2026-04; raadsbesluit Oosterhout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103120" cy="1417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27048"/>
            <a:ext cx="1828799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D9481C"/>
                </a:solidFill>
                <a:latin typeface="Cambria"/>
              </a:rPr>
              <a:t>≥ 3 / mnd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93976"/>
            <a:ext cx="1828799" cy="6949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branden in vuilniswagens in NL (NVRD)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417320"/>
            <a:ext cx="2103120" cy="1417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527048"/>
            <a:ext cx="1828799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D9481C"/>
                </a:solidFill>
                <a:latin typeface="Cambria"/>
              </a:rPr>
              <a:t>~120 / jaar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1945843"/>
            <a:ext cx="1828799" cy="8430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branden bij inzameling (Ver. Afvalbedrijven)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17320"/>
            <a:ext cx="2103120" cy="1417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527048"/>
            <a:ext cx="1828799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D9481C"/>
                </a:solidFill>
                <a:latin typeface="Cambria"/>
              </a:rPr>
              <a:t>38 %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2093976"/>
            <a:ext cx="1828799" cy="6949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van branden bij verwerkers toegeschreven aan batterijen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417320"/>
            <a:ext cx="2103120" cy="1417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1527048"/>
            <a:ext cx="1828799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D9481C"/>
                </a:solidFill>
                <a:latin typeface="Cambria"/>
              </a:rPr>
              <a:t>&gt; 100 mln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2093976"/>
            <a:ext cx="1828799" cy="6949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batterijen per jaar in het restafval (2025)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417320"/>
            <a:ext cx="2103120" cy="1417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2" y="1527048"/>
            <a:ext cx="1828799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D9481C"/>
                </a:solidFill>
                <a:latin typeface="Cambria"/>
              </a:rPr>
              <a:t>EUR 250–475k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4352" y="1945843"/>
            <a:ext cx="1828799" cy="8430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nieuwe vuilniswagen, diesel tot elektrisch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Route van inworp tot verwerking: waar ontstaat de brand?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21608"/>
            <a:ext cx="13258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Thuis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43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laag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984248" y="4069080"/>
            <a:ext cx="146304" cy="228600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48840" y="365760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721608"/>
            <a:ext cx="13258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Zuil / trommel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58568" y="4343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laag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584448" y="4069080"/>
            <a:ext cx="146304" cy="228600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49039" y="365760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59" y="3721608"/>
            <a:ext cx="13258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Container
(dagen)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58768" y="4343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E3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middel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184648" y="4069080"/>
            <a:ext cx="146304" cy="228600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49240" y="365760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59" y="3721608"/>
            <a:ext cx="13258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Lediging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58968" y="4343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E3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laag–middel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784848" y="4069080"/>
            <a:ext cx="146304" cy="228600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49440" y="365760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59" y="3721608"/>
            <a:ext cx="13258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Persen in
wagen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9168" y="4343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hoog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385048" y="4069080"/>
            <a:ext cx="146304" cy="228600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49640" y="365760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3721608"/>
            <a:ext cx="13258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Bunker /
overslag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59367" y="4343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hoog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985248" y="4069080"/>
            <a:ext cx="146304" cy="228600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49840" y="3657600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3721608"/>
            <a:ext cx="132588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Shredder /
AVI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59567" y="434340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983480"/>
            <a:ext cx="1106424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Gevolg voor het product: 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een cel ontsteekt meestal pas als de persplaat haar plet (TR binnen 0–30 s). Een detector in de zuil kan dus alleen waarschuwen; hij voorkomt de brand niet zelf.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Het idee: de zak ligt 1–10 s stil in de trommel, dus daar kun je rustig en goedkoop meten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Opdrachtgever; product/montage.png (A5); toetsing: debate/R4_scorekaart.md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43891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0" y="137160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libri"/>
              </a:rPr>
              <a:t>Vijf uitgangspunten van de opdrachtgever, getoetst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74519"/>
            <a:ext cx="6336792" cy="786384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68112" y="1938527"/>
            <a:ext cx="4480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1  Stilstand maakt goedkope sensoren mogelijk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2267712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Helpt röntgen (0,2–14 s), maar inductie wint niets boven 0,3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21031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752344"/>
            <a:ext cx="6336792" cy="786384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2816351"/>
            <a:ext cx="4480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2  Een risicodrempel volstaat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3145536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Maar per container moeilijk: 95 % van de ledigingen bevat al lithium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298094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KLOPT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630168"/>
            <a:ext cx="6336792" cy="786384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3694176"/>
            <a:ext cx="4480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3  Een strandmetaaldetector is het eenvoudigst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4023359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Ziet staal; 18650 ≈ AA-alkaline; PPV 5 %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385876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VERWORPEN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507992"/>
            <a:ext cx="6336792" cy="786384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4572000"/>
            <a:ext cx="4480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4  Melding aan de ophaaldienst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4901183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Alleen waardevol als er wordt ingegrepen; melden kost EUR 10–150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73659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3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5385816"/>
            <a:ext cx="6336792" cy="786384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5449824"/>
            <a:ext cx="44805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5  Abonnement per gemeente of container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5779007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Prijs 70–130× hoger dan de vermeden schade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561441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VERWORPEN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Grote packs maken een container gevaarlijk: 5 % van de Li-items draagt 58 % van het risico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experiments/r3_risico (A1): Pareto, brandkansmodel P = 1 − exp(−k·Wh-eq), k gekalibreerd op NL-branddata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c01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852160" cy="3237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32588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Risicoscore R = Σ Wh × w_chemie × w_toestand (Wh-eq)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783080"/>
          <a:ext cx="50292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05840"/>
                <a:gridCol w="1600200"/>
                <a:gridCol w="160020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 inworp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 container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Actie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Groen</a:t>
                      </a:r>
                    </a:p>
                  </a:txBody>
                  <a:tcPr marL="54864" marR="54864" marT="27432" marB="27432" anchor="ctr"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&lt; 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&lt; 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niets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Oranje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≥ 50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≥ 75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laatste in de route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Rood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≥ 75–100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≥ 150 of brandsignaal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apart legen, niet persen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0" y="3337560"/>
            <a:ext cx="1591056" cy="1874519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3447288"/>
            <a:ext cx="1316736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95 %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3948379"/>
            <a:ext cx="1316736" cy="12179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van de ledigingen bevat al ≥ 1 Li-item: 'accu aanwezig' zegt dus niets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4" y="3337560"/>
            <a:ext cx="1591056" cy="1874519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3447288"/>
            <a:ext cx="1316736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1,4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3948379"/>
            <a:ext cx="1316736" cy="12179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brand per 1.000 containers per jaar (basis; band 0,3–11)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3337560"/>
            <a:ext cx="1591056" cy="1874519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3447288"/>
            <a:ext cx="1316736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σ ≤ 0,5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948379"/>
            <a:ext cx="1316736" cy="12179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maximale Wh-schattingsfout; anders 2–5× zoveel alarmen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49240"/>
            <a:ext cx="5029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Drempels na Ronde 3 verhoogd: met de oorspronkelijke drempels (10/50 Wh-eq) zou bijna elke container oranje kleuren.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Een accu zendt niets uit: meetbaar zijn alleen staal, folie, dichtheid, warmte en gas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research/A2–A4; experiments/r3_inductie, r3_rontgen, r3_thermisch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1828800"/>
                <a:gridCol w="2011680"/>
                <a:gridCol w="12161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Principe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Wat het meet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 vs blik/folie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 vs alkaline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Aantal / Wh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Oordeel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Calibri"/>
                        </a:rPr>
                        <a:t>Inductie (VLF, PI)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stalen huls, Cu/Al-folie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zwak (AUC 0,56–0,59)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nee: 18650 ≈ 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 (σ 0,7; positie 171×)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zwak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Calibri"/>
                        </a:rPr>
                        <a:t>Röntgen ≤ 30 kV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dichtheid × Z, vorm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ja: blik/folie transparant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 (R 1,19 vs 1,20)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ja, via vorm/aantal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werkt, duur</a:t>
                      </a:r>
                    </a:p>
                  </a:txBody>
                  <a:tcPr marL="54864" marR="54864" marT="27432" marB="27432" anchor="ctr">
                    <a:solidFill>
                      <a:srgbClr val="1F7A6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Calibri"/>
                        </a:rPr>
                        <a:t>Thermisch (IR)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warmte aan oppervlak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alleen bij TR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n.v.t.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alleen brand</a:t>
                      </a:r>
                    </a:p>
                  </a:txBody>
                  <a:tcPr marL="54864" marR="54864" marT="27432" marB="27432" anchor="ctr">
                    <a:solidFill>
                      <a:srgbClr val="5F646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Calibri"/>
                        </a:rPr>
                        <a:t>Gas (CO, H₂, VOC)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uitgassing, venting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rotting stoort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n.v.t.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alleen brand</a:t>
                      </a:r>
                    </a:p>
                  </a:txBody>
                  <a:tcPr marL="54864" marR="54864" marT="27432" marB="27432" anchor="ctr">
                    <a:solidFill>
                      <a:srgbClr val="5F646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Calibri"/>
                        </a:rPr>
                        <a:t>Gewicht / vulgraad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massa per inworp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ondersteunend</a:t>
                      </a:r>
                    </a:p>
                  </a:txBody>
                  <a:tcPr marL="54864" marR="54864" marT="27432" marB="27432" anchor="ctr">
                    <a:solidFill>
                      <a:srgbClr val="5F646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328"/>
                          </a:solidFill>
                          <a:latin typeface="Calibri"/>
                        </a:rPr>
                        <a:t>Radar / capacitief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diëlektrisch, metaal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328"/>
                          </a:solidFill>
                          <a:latin typeface="Calibri"/>
                        </a:rPr>
                        <a:t>nee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ongeschikt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66360"/>
            <a:ext cx="1106424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Kern: </a:t>
            </a:r>
            <a:r>
              <a:rPr sz="1500" b="0" i="0">
                <a:solidFill>
                  <a:srgbClr val="1F2328"/>
                </a:solidFill>
                <a:latin typeface="Calibri"/>
              </a:rPr>
              <a:t>geen goedkoop principe onderscheidt lithium van alkaline. Wat wel kan: grote metalen pakketten herkennen (röntgen goed, inductie zwak) en een brand detecteren zodra die begint (warmte, gas).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Van 43 ideeën naar 5 testconcepten en 2 benchmarks, na ~80 aanvallen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debate/R1_*, R2_*_aanvallen, R2b_*_verdediging, R2_shortlist.md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3716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63040"/>
            <a:ext cx="33832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concepten in Ronde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10512"/>
            <a:ext cx="3383279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F646A"/>
                </a:solidFill>
                <a:latin typeface="Calibri"/>
              </a:rPr>
              <a:t>8 agents, elk ≥ 1 radicaal eenvoudig en ≥ 1 onconventioneel concept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560320"/>
            <a:ext cx="461772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2980" y="2670048"/>
            <a:ext cx="13716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~80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2651760"/>
            <a:ext cx="28803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aanvallen in Ronde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300" y="2999232"/>
            <a:ext cx="28803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F646A"/>
                </a:solidFill>
                <a:latin typeface="Calibri"/>
              </a:rPr>
              <a:t>op fysica, kosten, energie, regelgeving en praktijk; elke agent op ≥ 2 anderen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749039"/>
            <a:ext cx="4114800" cy="105156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39" y="3858768"/>
            <a:ext cx="13716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14 /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40479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ingetrokken / verbeterd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187952"/>
            <a:ext cx="237744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F646A"/>
                </a:solidFill>
                <a:latin typeface="Calibri"/>
              </a:rPr>
              <a:t>o.a. PI-klikker, röntgen per zuil, smeltdraad, shared savings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03020" y="4937760"/>
            <a:ext cx="3611879" cy="105156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5900" y="5047488"/>
            <a:ext cx="13716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mbria"/>
              </a:rPr>
              <a:t>5 + 2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3220" y="5029200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getest in Ronde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3220" y="5376672"/>
            <a:ext cx="1874519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D8DEE0"/>
                </a:solidFill>
                <a:latin typeface="Calibri"/>
              </a:rPr>
              <a:t>K1–K5 plus de benchmarks camera op de wagen (B1) en geen sensor (B0)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3716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Shortlist voor de 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874519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1819656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Strandmetaaldetector (VLF) in trommel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1819656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opdrachtgever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49631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441448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Pakketwachter: PI-lussen, OEM op pas-zuil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441448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A2 + A1 + A5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18104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063240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Röntgen ≤ 30 kV: vast (a) / ijkpaal (b)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3063240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A3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39896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685032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Deksel-eventmodule: IR + 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3685032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A4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361688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306824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Hybride K2 + K4 + actieprotocol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4306824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A1 + A6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983480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928616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Benchmark: thermische camera laadbak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4928616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A5, A7, A8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5605272"/>
            <a:ext cx="594360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550408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Benchmark: geen sensor, accu-brievenbus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5550408"/>
            <a:ext cx="12801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A6, A8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De strandmetaaldetector ziet staal, geen lithium: hij meldt 13 % van de 18650's, bij 2 % vals alarm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experiments/r3_inductie (A2): dipool-/eddy-currentmodel, 6 frequenties + PI-verval, zakken met gem. 5,9 metaalobjecten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c03_induc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309360" cy="35577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86600" y="1371600"/>
            <a:ext cx="4553712" cy="12344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51192" y="1481328"/>
            <a:ext cx="427939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0,56–0,59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1192" y="1982419"/>
            <a:ext cx="4279392" cy="5779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AUC cel/telefoon/vape vs gewone zak: nauwelijks beter dan toeval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743200"/>
            <a:ext cx="4553712" cy="12344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2852928"/>
            <a:ext cx="427939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171×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3354019"/>
            <a:ext cx="4279392" cy="5779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spreiding van het signaal door de positie in de trommel: Wh is niet te schatten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4114800"/>
            <a:ext cx="4553712" cy="12344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4224528"/>
            <a:ext cx="427939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&gt; 0,3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4725619"/>
            <a:ext cx="4279392" cy="5779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langer meten helpt niet; ander metaal in de zak is de grens, niet ruis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5532120"/>
            <a:ext cx="4553712" cy="68580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5577840"/>
            <a:ext cx="420624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Uitgangspunt 3 verworpen. </a:t>
            </a:r>
            <a:r>
              <a:rPr sz="1300" b="0" i="0">
                <a:solidFill>
                  <a:srgbClr val="D8DEE0"/>
                </a:solidFill>
                <a:latin typeface="Calibri"/>
              </a:rPr>
              <a:t>Alleen e-bike-packs vallen op; vapes zijn onzichtbaar.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Röntgen ziet cellen wél, maar stilstand maakt het niet goedkoop: EUR 90 per container per maand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experiments/r3_rontgen (A3): NIST XCOM, Beer-Lambert, fotonbudget, dosis; Bbs art. 3.18 (te bevestigen door stralingsdeskundige)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c04_rontgen_transmiss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577840" cy="3277657"/>
          </a:xfrm>
          <a:prstGeom prst="rect">
            <a:avLst/>
          </a:prstGeom>
        </p:spPr>
      </p:pic>
      <p:pic>
        <p:nvPicPr>
          <p:cNvPr id="6" name="Picture 5" descr="c05_rontgen_tij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94960" cy="36078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0749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7A6D"/>
                </a:solidFill>
                <a:latin typeface="Calibri"/>
              </a:rPr>
              <a:t>Vergunningsvrij mogelijk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48640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≤ 30 kV en ≤ 1 µSv/h op 0,1 m; 3 mm stalen zuilwand schermt ruim af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50749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3" y="5138928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481C"/>
                </a:solidFill>
                <a:latin typeface="Calibri"/>
              </a:rPr>
              <a:t>Geen chemie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3" y="548640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Li-ion vs alkaline niet te scheiden: dual-energy R 1,19 vs 1,20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50749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5138928"/>
            <a:ext cx="3291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481C"/>
                </a:solidFill>
                <a:latin typeface="Calibri"/>
              </a:rPr>
              <a:t>Niet off-grid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5486400"/>
            <a:ext cx="32918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1,2–5,5 Wh per dag; HW EUR 1.785 per zuil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Continue monitoring ziet brand, geen accu: vóór thermal runaway waarschuwt hij in 0–5 % van de gevallen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experiments/r3_thermisch (A4): 1D-warmte/gas-diffusie, vals-alarm-MC; Li-ion Tamer (DNV-GL); Seek Thermal/Goodyear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c06_tijdlij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277193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0" y="1417320"/>
          <a:ext cx="4507991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85623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Deksel-eventmodule (K4)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laag / basis / hoog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Brand gezien binnen 60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48 / 100 / 100 %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Vals alarm alleen CO &gt; 50 ppm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2 / 10 / 36 per jaar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Met regel IR + CO + stijgsnelheid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≈ 0 (veld bevestigen)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Hete as, peuken, vuurwerk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0,5 / 1,9 / 4,2 per jaar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IR ziet tot diepte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0,13 m vape – 0,35 m pack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Camera laadbak (B1): wagenbrand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19 / 49 / 76 % in ~1 s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26280"/>
            <a:ext cx="640080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Waarom: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afval isoleert sterk (0,5 m ≈ 19 dagen warmtetransport) en bij het persen is er geen venster. Een continue sensor is dus een brandmelder voor de container, geen accudetector.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Bij een werkbare meldingslast vangt zelfs een perfecte zuilsensor maar 15 % van het risico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experiments/r3_classificatie (A6): Monte Carlo met zakinhoud (params.py), sensormodellen A2/A3, brandkans A1, 3 scenario's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c07_recall_meldin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035040" cy="4081072"/>
          </a:xfrm>
          <a:prstGeom prst="rect">
            <a:avLst/>
          </a:prstGeom>
        </p:spPr>
      </p:pic>
      <p:pic>
        <p:nvPicPr>
          <p:cNvPr id="6" name="Picture 5" descr="c08_inwo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25880"/>
            <a:ext cx="4937760" cy="33242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4800600"/>
            <a:ext cx="49377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46A"/>
                </a:solidFill>
                <a:latin typeface="Calibri"/>
              </a:rPr>
              <a:t>Per inworp: aandeel Li-zakken gemeld (recall) en juiste meldingen (PPV)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Lezen: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bij 20 meldingen per 1.000 ledigingen vangt K1 3,6 % van de risico-energie, K2 4,4 %, geen sensor (B0) 4,4 %, röntgen 9,3 % en perfect 15 %. Inductie doet het dus niet beter dan helemaal geen sensor.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K1 en K2: inductie is het goedkoopst, maar meldt vooral blikken en alkaline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product/BOM_K1.csv, BOM_K2.csv (A5); experiments/r3_business (A7); r3_inductie (A2); debate/R4_scorekaart.md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K1  Strandmetaaldetector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VLF op 2–3 frequenties, meedraaiende DD-spoel in PE-liner, D-cel Li-SOCl₂ (13 mWh/dag), LTE-M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 per zuil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137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Installatie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60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TCO per container/mnd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2,64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Abonnement @1.000 / @10.000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14,6 / 9,3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Vermeden schade/mnd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0,07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2,55  ·  betrouwbaarheid hoog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Ziet staal: 18650 ≈ AA, PPV 5 %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Recall Li-zak 5 %; vapes onzichtbaar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Wel goedkoop en 6–14 jaar op een D-cel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NIET AANBEVOLEN (knock-out)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K2  Pakketwachter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2 PI-lussen + ferro-kanaal in liner; klassen geen / cel / pakket ≥ 20 Wh-eq; meelift op accu en modem van de pas-zuil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91656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 per zuil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Installatie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45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TCO per container/mnd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1,50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Abonnement @1.000 / @10.000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10,7 / 5,7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Vermeden schade/mnd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0,08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91656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2,52  ·  betrouwbaarheid middel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Pakketrecall 8–12 %, PPV 4 %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Op containerniveau gelijk aan geen sensor (B0)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Laagste kostprijs; NRE OEM-adapter EUR 50–150k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NIET AANBEVOLEN (knock-out)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K3: röntgen werkt fysiek, maar is als product per zuil 300× te duur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product/BOM_K3a.csv, BOM_K3b.csv (A5); experiments/r3_rontgen (A3), r3_business (A7)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K3a  Röntgen vast per zuil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30 kV-buis 4 W + GOS-scherm + camera achter PE-venster in trommel; interlock op klep; zonnepaneel 20–50 Wp of net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 per zuil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1.785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Installatie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650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TCO per container/mnd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40,6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Abonnement @1.000 / @10.000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90 / 78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Vermeden schade/mnd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0,18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2,00  ·  betrouwbaarheid middel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Pakketrecall 82 %, PPV pakket 34 %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Li en alkaline niet te scheiden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1,2–5,5 Wh per dag: niet off-grid haalbaar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NIET AANBEVOLEN (knock-out)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K3b  Röntgen-ijkpaal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Zelfde hardware, rouleert langs 20–50 containers; levert grondwaarheid om goedkope sensoren te ijken en voor risicokaarten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91656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 per unit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1.785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Containers per unit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TCO per container/mnd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9,7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Abonnement @1.000 / @10.000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26,7 / 20,6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Als campagne per gemeente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5–15k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91656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2,50  ·  betrouwbaarheid middel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Geen schadebesparing als abonnement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Waardevol als ijkdata in pilot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Kandidaat als EPR-lekmeting verplicht wordt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5F6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ALLEEN ALS MEETINSTRUMENT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K4 en K5: een brandmelder in de container is goedkoop, maar geen accudetector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product/BOM_K4.csv, BOM_K5.csv (A5); experiments/r3_thermisch (A4), r3_business (A7)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K4  Deksel-eventmodule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8×8 IR-thermopile + passieve CO-cel + NTC onder containerkop; regel stijgsnelheid + 2-van-3; 12 mWh/dag, ~10 jaar op D-cel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Installatie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30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Los abonnement @1.000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13,9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Als add-on @1.000 / @10.000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3,6 / 2,2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Vermeden schade/mnd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0,31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3,30 los · 3,65 add-on  ·  betrouwbaarheid laag–middel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Ziet brand binnen 60 min; accu vooraf vrijwel nooit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Break-even ≥ 15 branden/1.000 containerjaar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Alleen meeliften op bestaande vulgraadsensor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CONDITIONEEL: add-on, hotspots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K5  Hybride K2 + K4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Pakketwachter in de zuil + K4-lite onder deksel via BLE; twee kanalen: rangorde en brand-event; actieprotocol oranje/rood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91656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Installatie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75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TCO per container/mnd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3,14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Abonnement @1.000 / @10.000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18,6 / 10,4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Vermeden schade/mnd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0,08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91656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2,23  ·  betrouwbaarheid middel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Erft vals alarm van K2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Duurste inductieconcept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Behouden idee: twee gescheiden meldkanalen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C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NIET AANBEVOLEN (knock-out)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De benchmarks winnen: camera op de wagen en preventie aan de zuil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product/BOM_B1.csv, BOM_B0.csv (A5); experiments/r3_thermisch/b1, r3_business (A7); r3_redteam (A8)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B1  Thermische camera laadbak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Radiometrische camera boven de laadbak, 24 V boordnet; alarm bij ΔT/dt; chauffeur dumpt de lading (bestaand draaiboek)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 per wagen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2.050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Containers per wagen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~300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Fabrieksoptie @1.000 / @10.000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2,3 / 0,97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Als los abonnement @1.000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8,4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Vermeden schade/mnd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1,35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4,00 (OEM)  ·  betrouwbaarheid middel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Meet waar het risico ontstaat; 19–76 % in ~1 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Rendabel vanaf ~3.000 containers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Koper is de inzamelaar (67 % van de baat)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CONDITIONEEL: ≥ 10 wagens, OEM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371600"/>
            <a:ext cx="543153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81328"/>
            <a:ext cx="506577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2328"/>
                </a:solidFill>
                <a:latin typeface="Cambria"/>
              </a:rPr>
              <a:t>B0  Accu-brievenbus aan zuil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20240"/>
            <a:ext cx="5065776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46A"/>
                </a:solidFill>
                <a:latin typeface="Calibri"/>
              </a:rPr>
              <a:t>Brandwerende RVS-sleuf aan de zuil voor losse batterijen en vapes; lediging via Stibat; geen beloning, geen pas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91656" y="2697480"/>
          <a:ext cx="506577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781"/>
                <a:gridCol w="1924994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Kosten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Installatie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40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Met sortering @1.000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23,1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Zonder sortering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lager [A]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Vermeden schade/mnd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0,44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91656" y="4480560"/>
            <a:ext cx="506577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Score 3,40  ·  betrouwbaarheid laag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4828032"/>
            <a:ext cx="5065776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Verlaagt prevalentie, geen vals alarm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Effect niet gemeten: 2 × 1 t sorteren nodig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328"/>
                </a:solidFill>
                <a:latin typeface="Calibri"/>
              </a:rPr>
              <a:t>• Betaler: Stichting OPEN (inzameldoel 63 %)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5760720"/>
            <a:ext cx="5065776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CONDITIONEEL: PRO betaalt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Geen zuilconcept haalt 3,5 zonder knock-out; de camera op de wagen scoort het hoogst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experiments/r4_scorekaart/scorekaart.py; debate/R4_scorekaart.md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16</a:t>
            </a:r>
          </a:p>
        </p:txBody>
      </p:sp>
      <p:pic>
        <p:nvPicPr>
          <p:cNvPr id="5" name="Picture 4" descr="c09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766560" cy="363788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417320"/>
          <a:ext cx="414223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2471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Criterium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Gewicht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Detectie vs 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25 %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Kostprijs en abonnement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20 %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Eenvoud en bouwbaarheid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15 %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Inpasbaarheid en energie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15 %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Juridisch: straling, AVG, 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10 %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Waarde voor gemeente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15 %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4160520"/>
            <a:ext cx="4142232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Knock-outs: 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discriminatie (K1), vals alarm (K2, K5), prijs en energie (K3a), geen accudetector (K4 los). 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Regel: 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AANBEVOLEN vereist ≥ 3,5 én geen knock-out. Ook de camera op de wagen is als los abonnement bij 1.000 containers te duur.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Wat we wél bouwen: één meet-zuil die in 3–6 maanden beslist of inductie een kans heeft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product/ontwerp.md, montage.png, blokschema.png (A5); experiments/r3_signaal (A6); debate/R4_scorekaart.md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17</a:t>
            </a:r>
          </a:p>
        </p:txBody>
      </p:sp>
      <p:pic>
        <p:nvPicPr>
          <p:cNvPr id="5" name="Picture 4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4348480" cy="48920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257800" y="1444752"/>
            <a:ext cx="457200" cy="457200"/>
          </a:xfrm>
          <a:prstGeom prst="ellipse">
            <a:avLst/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57800" y="1481328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371600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2328"/>
                </a:solidFill>
                <a:latin typeface="Calibri"/>
              </a:rPr>
              <a:t>PE-liner met 2 PI-lussen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719072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46A"/>
                </a:solidFill>
                <a:latin typeface="Calibri"/>
              </a:rPr>
              <a:t>in de RVS-trommel, draait mee; logt ruwe vervalcurves</a:t>
            </a:r>
          </a:p>
        </p:txBody>
      </p:sp>
      <p:sp>
        <p:nvSpPr>
          <p:cNvPr id="10" name="Oval 9"/>
          <p:cNvSpPr/>
          <p:nvPr/>
        </p:nvSpPr>
        <p:spPr>
          <a:xfrm>
            <a:off x="5257800" y="2231136"/>
            <a:ext cx="457200" cy="457200"/>
          </a:xfrm>
          <a:prstGeom prst="ellipse">
            <a:avLst/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267712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157984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2328"/>
                </a:solidFill>
                <a:latin typeface="Calibri"/>
              </a:rPr>
              <a:t>Module in zuilkop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505456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46A"/>
                </a:solidFill>
                <a:latin typeface="Calibri"/>
              </a:rPr>
              <a:t>STM32 + PI-front-end; voeding van de pas-zuil-accu; fail-open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3017520"/>
            <a:ext cx="457200" cy="457200"/>
          </a:xfrm>
          <a:prstGeom prst="ellipse">
            <a:avLst/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3054096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944368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2328"/>
                </a:solidFill>
                <a:latin typeface="Calibri"/>
              </a:rPr>
              <a:t>K4-lite onder deksel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291839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46A"/>
                </a:solidFill>
                <a:latin typeface="Calibri"/>
              </a:rPr>
              <a:t>8×8 IR + CO + NTC; BLE naar de zuilmodule</a:t>
            </a:r>
          </a:p>
        </p:txBody>
      </p:sp>
      <p:sp>
        <p:nvSpPr>
          <p:cNvPr id="18" name="Oval 17"/>
          <p:cNvSpPr/>
          <p:nvPr/>
        </p:nvSpPr>
        <p:spPr>
          <a:xfrm>
            <a:off x="5257800" y="3803904"/>
            <a:ext cx="457200" cy="457200"/>
          </a:xfrm>
          <a:prstGeom prst="ellipse">
            <a:avLst/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3840480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730752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2328"/>
                </a:solidFill>
                <a:latin typeface="Calibri"/>
              </a:rPr>
              <a:t>Data naar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078224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46A"/>
                </a:solidFill>
                <a:latin typeface="Calibri"/>
              </a:rPr>
              <a:t>13-byte LoRaWAN/LTE-M-bericht; TTN-decoder en mock aanwezig</a:t>
            </a:r>
          </a:p>
        </p:txBody>
      </p:sp>
      <p:sp>
        <p:nvSpPr>
          <p:cNvPr id="22" name="Oval 21"/>
          <p:cNvSpPr/>
          <p:nvPr/>
        </p:nvSpPr>
        <p:spPr>
          <a:xfrm>
            <a:off x="5257800" y="4590288"/>
            <a:ext cx="457200" cy="457200"/>
          </a:xfrm>
          <a:prstGeom prst="ellipse">
            <a:avLst/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4626864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517136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2328"/>
                </a:solidFill>
                <a:latin typeface="Calibri"/>
              </a:rPr>
              <a:t>Grondwaarheid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864607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F646A"/>
                </a:solidFill>
                <a:latin typeface="Calibri"/>
              </a:rPr>
              <a:t>62 gespikete zakken per klasse + 300 echte zakken sorteren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5440680"/>
            <a:ext cx="6382512" cy="77724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035040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Kosten EUR 37k / 62k / 102k. </a:t>
            </a:r>
            <a:r>
              <a:rPr sz="1350" b="0" i="0">
                <a:solidFill>
                  <a:srgbClr val="D8DEE0"/>
                </a:solidFill>
                <a:latin typeface="Calibri"/>
              </a:rPr>
              <a:t>Go bij AUC ≥ 0,85 en PPV ≥ 30 % (pakket ≥ 20 Wh-eq, ≤ 2 % zakken gemeld).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Een melding helpt alleen als iemand ingrijpt, en elke ingreep kost EUR 10–150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research/A6_software.md; experiments/r3_signaal (A6); r3_business alarm_cost (A7); debate/R4_redteam.md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D8DEE0"/>
                </a:solidFill>
                <a:latin typeface="Calibri"/>
              </a:rPr>
              <a:t>inworp of continu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8608" y="1810512"/>
            <a:ext cx="201168" cy="237744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07208" y="141732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48132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874519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D8DEE0"/>
                </a:solidFill>
                <a:latin typeface="Calibri"/>
              </a:rPr>
              <a:t>per container, reset bij lediging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37176" y="1810512"/>
            <a:ext cx="201168" cy="237744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65776" y="141732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48132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Bericht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1874519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D8DEE0"/>
                </a:solidFill>
                <a:latin typeface="Calibri"/>
              </a:rPr>
              <a:t>13 B LoRaWAN / LTE-M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95744" y="1810512"/>
            <a:ext cx="201168" cy="237744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24344" y="141732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148132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1874519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D8DEE0"/>
                </a:solidFill>
                <a:latin typeface="Calibri"/>
              </a:rPr>
              <a:t>kaart + lijst per route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54312" y="1810512"/>
            <a:ext cx="201168" cy="237744"/>
          </a:xfrm>
          <a:prstGeom prst="rightArrow">
            <a:avLst/>
          </a:prstGeom>
          <a:solidFill>
            <a:srgbClr val="D5D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82912" y="141732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1481328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Boordcomputer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1874519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D8DEE0"/>
                </a:solidFill>
                <a:latin typeface="Calibri"/>
              </a:rPr>
              <a:t>via vulgraad-API (bijv. HVC)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743200"/>
          <a:ext cx="6766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93192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Wat de ophaaldienst doet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Kosten per keer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Groen</a:t>
                      </a:r>
                    </a:p>
                  </a:txBody>
                  <a:tcPr marL="54864" marR="54864" marT="27432" marB="27432" anchor="ctr"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niets, alleen statistiek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EUR 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Oranje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container als laatste legen, niet extra persen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EUR 10–30 [A]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Rood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apart legen zonder persen of bovenkant controleren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EUR 50–150 [A]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Brand (B1/K4)</a:t>
                      </a:r>
                    </a:p>
                  </a:txBody>
                  <a:tcPr marL="54864" marR="54864" marT="27432" marB="27432" anchor="ctr">
                    <a:solidFill>
                      <a:srgbClr val="1F23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lading dumpen of niet legen; brandweerprotocol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bestaand draaiboek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7589520" y="2743200"/>
            <a:ext cx="4050791" cy="11430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2852928"/>
            <a:ext cx="37764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EUR 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354019"/>
            <a:ext cx="3776472" cy="4864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vermeden schade bij alleen melden, zonder ingreep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977639"/>
            <a:ext cx="4050791" cy="11430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4087368"/>
            <a:ext cx="37764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EUR 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588459"/>
            <a:ext cx="3776472" cy="4864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per container per jaar aan vervolgacties (20 meldingen per 1.000 ledigingen)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AVG: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een alarm per container bevat geen persoonsgegevens. Koppeling aan de pashouder vraagt een DPIA en is bij 93–95 % valse meldingen niet proportioneel (AP 2017). Dus geen pas-koppeling.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Een zuilabonnement kost bij 10.000 containers nog EUR 5,7–18,6 per maand: 70× de vermeden schade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experiments/r3_business (A7): 6 jaar levensduur, 40 % brutomarge, NRE, support, CAC; BOM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19</a:t>
            </a:r>
          </a:p>
        </p:txBody>
      </p:sp>
      <p:pic>
        <p:nvPicPr>
          <p:cNvPr id="5" name="Picture 4" descr="c11_scha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035040" cy="381340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417320"/>
          <a:ext cx="48737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8191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K2 bij 1.000 containers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EUR/c/mnd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1,01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Installatie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0,53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Connectiviteit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Onderhoud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0,17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2,10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NRE (OEM-adapter)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1,39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Klantwerving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1,04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Kostprijs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6,44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Prijs incl. 40 % marge</a:t>
                      </a:r>
                    </a:p>
                  </a:txBody>
                  <a:tcPr marL="54864" marR="54864" marT="27432" marB="27432" anchor="ctr">
                    <a:solidFill>
                      <a:srgbClr val="D948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10,73</a:t>
                      </a:r>
                    </a:p>
                  </a:txBody>
                  <a:tcPr marL="54864" marR="54864" marT="27432" marB="27432" anchor="ctr">
                    <a:solidFill>
                      <a:srgbClr val="D9481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4892040"/>
            <a:ext cx="4873752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2328"/>
                </a:solidFill>
                <a:latin typeface="Calibri"/>
              </a:rPr>
              <a:t>De elektronica is niet de kostendrijver: </a:t>
            </a:r>
            <a:r>
              <a:rPr sz="1300" b="0" i="0">
                <a:solidFill>
                  <a:srgbClr val="1F2328"/>
                </a:solidFill>
                <a:latin typeface="Calibri"/>
              </a:rPr>
              <a:t>support, NRE en klantwerving zijn samen 70 %. Een per-container-abonnement schaalt dus slecht onder ~10.000 units.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Voor een gemeente met 1.000 containers komt alleen de camera op de wagen in de buurt; de baat ligt bij de inzamelaar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experiments/r3_business (A7): 1,27 wagenbranden per 1.000 containerjaar (A6/A1), schade EUR 10k/25k/50k per wagenbrand [A]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20</a:t>
            </a:r>
          </a:p>
        </p:txBody>
      </p:sp>
      <p:pic>
        <p:nvPicPr>
          <p:cNvPr id="5" name="Picture 4" descr="c10_prijs_vs_sch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541120"/>
          </a:xfrm>
          <a:prstGeom prst="rect">
            <a:avLst/>
          </a:prstGeom>
        </p:spPr>
      </p:pic>
      <p:pic>
        <p:nvPicPr>
          <p:cNvPr id="6" name="Picture 5" descr="c13_ba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4572000" cy="23316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3794760"/>
            <a:ext cx="4599432" cy="1170432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5472" y="3904488"/>
            <a:ext cx="432511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0,58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4405579"/>
            <a:ext cx="4325112" cy="5138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baat/kosten camera op wagen (OEM) bij 1.000 containers; 1,33 bij 10.000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5056632"/>
            <a:ext cx="4599432" cy="1170432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5472" y="5166360"/>
            <a:ext cx="432511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D9481C"/>
                </a:solidFill>
                <a:latin typeface="Cambria"/>
              </a:rPr>
              <a:t>0–18 %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5667451"/>
            <a:ext cx="4325112" cy="5138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328"/>
                </a:solidFill>
                <a:latin typeface="Calibri"/>
              </a:rPr>
              <a:t>van de vermeden schade valt bij de gemeente (0 % bij de camera)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Red team: de conclusie houdt stand; de grootste risico's zitten in vals alarm en het ontbreken van een koper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debate/R4_redteam.md (A8); break-even uit experiments/r3_business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206240"/>
                <a:gridCol w="1005840"/>
                <a:gridCol w="914400"/>
                <a:gridCol w="455371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Risico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Kans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Mitigatie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Camera op de wagen: te veel vals alarm, chauffeur negeert het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hoog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Pilot 2–4 wagens × 6 mnd; ≤ 1 vals alarm per wagen per maand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Geen koper: de baat is statistisch niet aan te tonen (≥ 41k containerjaren)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hoog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hoog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Verkopen op chauffeursveiligheid en premie; fabrieksoptie in voertuigbestek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Concurrent eerst: Seek, Oshkosh, wagenbouwers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hoog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Geen eigen hardware; rol als integrator, draaiboek en datalaag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Accu-brievenbus wordt zelf brand- of vandalismebron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Brandwerend RVS, labtest met 1 cel, sluiten rond jaarwisseling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Meet-zuil geeft een vals 'go'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laag–middel</a:t>
                      </a:r>
                    </a:p>
                  </a:txBody>
                  <a:tcPr marL="54864" marR="54864" marT="27432" marB="27432" anchor="ctr">
                    <a:solidFill>
                      <a:srgbClr val="E39B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hoog</a:t>
                      </a:r>
                    </a:p>
                  </a:txBody>
                  <a:tcPr marL="54864" marR="54864" marT="27432" marB="27432" anchor="ctr">
                    <a:solidFill>
                      <a:srgbClr val="C831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328"/>
                          </a:solidFill>
                          <a:latin typeface="Calibri"/>
                        </a:rPr>
                        <a:t>Geblindeerd, echte metaalmix en trommel, criterium vooraf vast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328"/>
                </a:solidFill>
                <a:latin typeface="Calibri"/>
              </a:rPr>
              <a:t>Wat zou het advies omdraaien? </a:t>
            </a:r>
            <a:r>
              <a:rPr sz="1400" b="0" i="0">
                <a:solidFill>
                  <a:srgbClr val="1F2328"/>
                </a:solidFill>
                <a:latin typeface="Calibri"/>
              </a:rPr>
              <a:t>Voor K2 is 170× de basisbrandkans nodig (220 per 1.000 containerjaar); 10× meer branden of 10× meer schade is niet genoeg. Alleen een verplichte EPR-lekmeting zou een meetdienst (K3b) rechtvaardigen.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Roadmap: eerst falsificeren en de wagen testen, pas opschalen bij bewezen effect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debate/R4_scorekaart.md, R4_redteam.md; experiments/r3_redteam/labtests.md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D94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0–6 maanden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6231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Prototype en bewijs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4612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Meet-zuil in 1 zuil: go/no-go inductie (EUR 37–102k)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Pilot camera op 2 wagens bij één inzamelaar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Labtest brandwerende accu-brievenbus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Vooroverleg met Stichting OPEN; stralingsdeskundige over K3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41732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463040"/>
            <a:ext cx="3200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6–18 maanden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856231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Pilot in één gemeente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42316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560320"/>
            <a:ext cx="324612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Camera op ≥ 10 wagens; vals alarm en dumpacties meten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Accu-brievenbus in 1 cluster + sorteeranalyse 2 × 1 t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K4 als add-on op 20 hotspot-containers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Alleen bij 'go': K2-lite op 10 zuilen met OEM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1732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1C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463040"/>
            <a:ext cx="3200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18–36 maanden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1856231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Opschalen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42316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2560320"/>
            <a:ext cx="324612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Camera als fabrieksoptie in voertuigbestekken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Brievenbus landelijk via de producentenorganisatie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Risicokaart en datalaag als dienst aan inzamelaars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F2328"/>
                </a:solidFill>
                <a:latin typeface="Calibri"/>
              </a:rPr>
              <a:t>• Zuilproduct alleen bij bewezen PPV ≥ 50 %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46A"/>
                </a:solidFill>
                <a:latin typeface="Calibri"/>
              </a:rPr>
              <a:t>Beslismoment na elke fase: door alleen bij gemeten effect; anders stoppen of bijsturen.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Nodig: één inzamelaar, één zuilleverancier en zeven labtests om de open vragen te beslissen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experiments/r3_redteam/labtests.md (L1–L7), r3_*/RESULTATEN.md; research/A5,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3255264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3255264" cy="42519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Inzamelaar met eigen AVI (zoals HVC): wagens en data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Leverancier toegangscontrole (Bammens e.a.): OEM-interface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Stichting OPEN: brievenbus, financiering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Stralingsdeskundige en ANVS (K3)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Wagenbouwer of camerapartner (B1)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566160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81328"/>
            <a:ext cx="3255264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Labtests (prototype)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901952"/>
            <a:ext cx="3255264" cy="42519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L1 Inductie in echte RVS-trommel: ≥ 300 zakken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L2 Gespikete zakken: 62 per klasse, geblindeerd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L3 Röntgendosimetrie bij open klep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L4 IR + CO in container, 20 × 3 mnd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L5 Camera op wagen: vals alarm 6 mnd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L6 Brievenbus: thermal runaway van 1 cel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L7 BLE door valschacht en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371600"/>
            <a:ext cx="3557016" cy="484632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481328"/>
            <a:ext cx="3246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Open vragen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246120" cy="42519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Echte brandfrequentie per containerjaar (nu 0,3–11 per 1.000)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Aandeel Li-ion in NL-restafval (aanname 3/6/12 per ton)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Schade per wagenbrand (niet gevonden)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Aantal ondergrondse containers NL (~45k [A])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Bbs-vrijstelling bevestigen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Calibri"/>
              </a:rPr>
              <a:t>• Effect van een brievenbus op gedrag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el"/>
          <p:cNvSpPr txBox="1"/>
          <p:nvPr/>
        </p:nvSpPr>
        <p:spPr>
          <a:xfrm>
            <a:off x="548640" y="347472"/>
            <a:ext cx="110642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2328"/>
                </a:solidFill>
                <a:latin typeface="Cambria"/>
              </a:rPr>
              <a:t>Bijlage: bronnen en belangrijkste aannames</a:t>
            </a:r>
          </a:p>
        </p:txBody>
      </p:sp>
      <p:sp>
        <p:nvSpPr>
          <p:cNvPr id="3" name="Bron"/>
          <p:cNvSpPr txBox="1"/>
          <p:nvPr/>
        </p:nvSpPr>
        <p:spPr>
          <a:xfrm>
            <a:off x="548640" y="6400800"/>
            <a:ext cx="100584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Bron: Volledige lijsten met datum: research/A1–A8 (§ Bronnen); alle code: experiments/; prijspeil EUR 2026 excl. btw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00800"/>
            <a:ext cx="5486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46A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Bronnen (selectie, met datum)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480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Stichting OPEN/Eureco, Batterijen in huishoudelijk restafval 2025 (2026-04)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Tweede Kamer, 2026D41104 – Kamervragen batterijbranden (2026)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NOS / NVRD, branden in vuilniswagens (2023)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Nigl e.a., SOC van afgedankte Li-ion, Waste Management (2021)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Gausden &amp; Cerik, vapes als ontstekingsbron, Batteries (2024-07)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Eunomia/ESA, Li-ion fires in the waste industry (2021-01); US EPA 530-R-21-002 (2021-07)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Chen e.a., Li-ion-branden in stortplaats, PSEP (2025)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NIST XCOM attenuatiedata; Besluit basisveiligheidsnormen stralingsbescherming art. 3.18 (2018)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Li-ion Tamer / DNV-GL testrapport (z.d.); Seek Thermal – Goodyear, SWANA (2025)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Rijkswaterstaat sorteeranalyse restafval (2022); CBS gemeenten (2026-01)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328"/>
                </a:solidFill>
                <a:latin typeface="Calibri"/>
              </a:rPr>
              <a:t>• TenderNed-bestekken ondergrondse containers (2019–2026); Europese drempels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328"/>
                </a:solidFill>
                <a:latin typeface="Calibri"/>
              </a:rPr>
              <a:t>Belangrijkste aannames [A]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737360"/>
          <a:ext cx="528523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99339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Laag / basis / hoog</a:t>
                      </a:r>
                    </a:p>
                  </a:txBody>
                  <a:tcPr marL="54864" marR="54864" marT="27432" marB="27432" anchor="ctr">
                    <a:solidFill>
                      <a:srgbClr val="1C2B2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Li-items per ton restafval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3 / 6 / 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Zakken per lediging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80 / 100 / 120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Wagenbranden per 1.000 containerjaar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0,07 / 1,27 / 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Schade per wagenbrand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10k / 25k / 50k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Effect ingreep oranje / rood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30 % / 80 %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Kosten per melding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EUR 10–150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Levensduur, marge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6 jaar, 40 %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Ondergrondse restafvalcontainers NL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8"/>
                          </a:solidFill>
                          <a:latin typeface="Calibri"/>
                        </a:rPr>
                        <a:t>30k / 45k / 65k</a:t>
                      </a:r>
                    </a:p>
                  </a:txBody>
                  <a:tcPr marL="54864" marR="54864" marT="27432" marB="27432" anchor="ctr"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4892040"/>
            <a:ext cx="530352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F2328"/>
                </a:solidFill>
                <a:latin typeface="Calibri"/>
              </a:rPr>
              <a:t>Niet gevonden of niet getest: </a:t>
            </a:r>
            <a:r>
              <a:rPr sz="1150" b="0" i="0">
                <a:solidFill>
                  <a:srgbClr val="1F2328"/>
                </a:solidFill>
                <a:latin typeface="Calibri"/>
              </a:rPr>
              <a:t>schade per wagenbrand, aandeel Li-ion naar aantal, gemeten vervalcurves van cellen, KPN/Vodafone IoT-tarieven, datasheets zuilleveranciers. Niets is fysiek gemeten: alle prestaties komen uit modellen.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